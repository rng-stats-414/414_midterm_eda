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5a34d7b48ae026b0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5a34d7b48ae026b0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5a34d7b48ae026b0_1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5a34d7b48ae026b0_1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1ba73d5329aa7c8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1ba73d5329aa7c8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1ba73d5329aa7c8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1ba73d5329aa7c8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ranks markets from most to least traded. The bottom axis is the top X% of markets, stretched so we can see the top slice, and the side axis is their share of all volume.</a:t>
            </a:r>
            <a:br>
              <a:rPr lang="en"/>
            </a:br>
            <a:r>
              <a:rPr lang="en"/>
              <a:t> The top 1% of markets hold about 90% of all volume, and the top 0.1% hold about 65%. So a tiny number of markets get almost all the money, and most markets barely trade.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5a34d7b48ae026b0_16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5a34d7b48ae026b0_16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shows new markets opened each week. The colors are categories we assigned from keywords in the market names, and “other” means no keyword matched.</a:t>
            </a:r>
            <a:br>
              <a:rPr lang="en"/>
            </a:br>
            <a:r>
              <a:rPr lang="en"/>
              <a:t> Polymarket was small until May. Then it exploded in September, from about 20,000 to over 175,000 new markets a week. A lot of that is sports and crypto, which create many short, repeated markets, like single games or 15-minute Bitcoin bets.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1ba73d5329aa7c8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1ba73d5329aa7c8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1ba73d5329aa7c8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1ba73d5329aa7c8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False, we can think of it as separate non-mutually exclusive questions. Think of it as two separate threshold/margin questions pertaining to the same subject, each with their own binary yes/no (e.g. Bitcoin crossing 100K vs 125K). So, True pertains to questions that are truly mutually exclusive and likely only have one market per event.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Basically, think of it as ‘False’ providing more chances to “win”.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5a34d7b48ae026b0_1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5a34d7b48ae026b0_1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shows how often YES wins by outcome type and by category. A longer bar means YES wins more often.</a:t>
            </a:r>
            <a:br>
              <a:rPr lang="en"/>
            </a:br>
            <a:r>
              <a:rPr lang="en"/>
              <a:t> Real Yes/No questions resolve YES only about 21% of the time, while Up/Down and Odd/Even markets are basically coin flips at 50%.</a:t>
            </a:r>
            <a:br>
              <a:rPr lang="en"/>
            </a:br>
            <a:r>
              <a:rPr lang="en"/>
              <a:t> By category, politics is lowest at 21% because most candidates lose, and crypto is highest at 44% because most crypto markets are coin flips.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1ba73d5329aa7c83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h1ba73d5329aa7c8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1ba73d5329aa7c8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1ba73d5329aa7c8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Looking at the amount of $ traded between weekdays and hours, it appears that trades mostly occur during the weekends, while Tuesday-Friday trades peak around 6-8 PM, which occur after a standard 9-5 adult workday.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1ba73d5329aa7c83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1ba73d5329aa7c8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Looking at the plots on the right, they show that as the number of distinct traders increases, the average trade size decreases. A lot of common people with smaller wallets are joining the fray to bet on a market, </a:t>
            </a:r>
            <a:r>
              <a:rPr lang="en"/>
              <a:t>perhaps</a:t>
            </a:r>
            <a:r>
              <a:rPr lang="en"/>
              <a:t> a big one.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ba73d5329aa7c83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ba73d5329aa7c83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1ba73d5329aa7c8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1ba73d5329aa7c8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Between 1-6 hours before the market ends, most of the money gets thrown around. However, it’s actually LESS than an hour before closing that more than 50% of trades come in...although the trades are smaller.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of the trades happening so close to the deadline may show that the markets are short-lived and volatile.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other hand, traders with more money may want to act before the market settles within the last hour, while there’s more uncertainty in the air. Perhaps this is actually a ploy to influence the betting odds, as being able to influence a large number of trades would result in price shifts/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1ba73d5329aa7c8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h1ba73d5329aa7c8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Looking at October 14th-20th, we can see that last minute buyers… tend to profit moreso, while last minute sellers lose out.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Perhaps this was a result of panic selling on the sellers’ end, though it’s not so verifiable. They’re trying to minimize their losses; this could occur during a very close basketball game, for instance.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Hence, I’d actually be </a:t>
            </a:r>
            <a:r>
              <a:rPr lang="en"/>
              <a:t>curious</a:t>
            </a:r>
            <a:r>
              <a:rPr lang="en"/>
              <a:t> to look at the distribution of topics for these last minute trades, as for example, in sports like Basketball, the score can flip so easily in the </a:t>
            </a:r>
            <a:r>
              <a:rPr lang="en"/>
              <a:t>final</a:t>
            </a:r>
            <a:r>
              <a:rPr lang="en"/>
              <a:t> minutes.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flip side, people who buy or sell days or weeks in advance tend to lose out; maybe this can be attributed to them not accounting for unpredictable events.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1ba73d5329aa7c8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1ba73d5329aa7c8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 bar higher: YES outcome occurs more often than the price of the share.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Although there’s only a week of data to go off of, it seems that although a YES share may be at a certain price between $0 and $1, there could be a very noticeable discrepancy between the % of YES predictions coming to pass and the actual price, showing that perhaps the platform’s odds could actually be far off from the odds in reality.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Between bets placed at 24 hours, 6 hours, and 1 hour prior to the deadline, lower priced ‘YES’ bets placed further away from the deadline tended to fail miserably more often.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1ba73d5329aa7c8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1ba73d5329aa7c8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Huge BUY at a large trade size: insider trading?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1ba73d5329aa7c83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h1ba73d5329aa7c8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1ba73d5329aa7c8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h1ba73d5329aa7c8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bottom graph with the red and orange lines, imagine this: supposing the trading volume of the market is big, there are a lot of buyers and sellers. Hence, usually, a $100 or $1000 purchase in such a big market doesn’t actually cause them to buy up as many shares that are of a higher price, given there are more lower price shares around.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5a34d7b48ae026b0_1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5a34d7b48ae026b0_1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5a34d7b48ae026b0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h5a34d7b48ae026b0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5a34d7b48ae026b0_1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5a34d7b48ae026b0_1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19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951350"/>
            <a:ext cx="8222100" cy="12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Market Exploratory Data Analysis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319213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Vincent Nguyen, Vinod Srinivasan, Kasyap Bendapudi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1520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759850"/>
            <a:ext cx="8520600" cy="31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000000"/>
                </a:solidFill>
              </a:rPr>
              <a:t>Research Question</a:t>
            </a:r>
            <a:endParaRPr b="1" u="sng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Exploratory Data Analysis (EDA) of Polymarket to evaluate market and trader behavior.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000000"/>
                </a:solidFill>
              </a:rPr>
              <a:t>Dataset</a:t>
            </a:r>
            <a:endParaRPr b="1" u="sng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Over 1.5M markets tracked across categories (Sports, Politics, Crypto, Economics).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Resolutions: Settlement outcomes (YES/NO) across standard and multi-choice markets.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Wallet Trades: Transaction logs tracking trade sizes, timing, and profitability. 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1520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759850"/>
            <a:ext cx="8520600" cy="31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000000"/>
                </a:solidFill>
              </a:rPr>
              <a:t>Scope of our EDA</a:t>
            </a:r>
            <a:endParaRPr b="1" u="sng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 are volume, trading activity, and new markets distributed?  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Are prices well-calibrated, and do larger markets offer better liquidity?  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and how do traders earn positive returns? (timing, size, specialization)?</a:t>
            </a:r>
            <a:endParaRPr b="1" u="sng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Markets Metadata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 title="catalog__volume_pare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925" y="1001450"/>
            <a:ext cx="6332152" cy="362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1520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Markets</a:t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925" y="1001450"/>
            <a:ext cx="6332151" cy="3649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7275"/>
            <a:ext cx="6974526" cy="284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1520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Markets</a:t>
            </a:r>
            <a:endParaRPr/>
          </a:p>
        </p:txBody>
      </p:sp>
      <p:sp>
        <p:nvSpPr>
          <p:cNvPr id="117" name="Google Shape;117;p18"/>
          <p:cNvSpPr txBox="1"/>
          <p:nvPr>
            <p:ph idx="4294967295" type="body"/>
          </p:nvPr>
        </p:nvSpPr>
        <p:spPr>
          <a:xfrm>
            <a:off x="6974525" y="1244100"/>
            <a:ext cx="2136600" cy="26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Polymarket grew in late August and peaked in September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New markets rose from ~20K to 175K+ per week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Sports and crypto make up a large share of new markets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Resolutions Metadata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Resolutions</a:t>
            </a:r>
            <a:endParaRPr/>
          </a:p>
        </p:txBody>
      </p:sp>
      <p:pic>
        <p:nvPicPr>
          <p:cNvPr id="128" name="Google Shape;128;p20" title="catalog__volume_pare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925" y="1149475"/>
            <a:ext cx="6332152" cy="362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 title="wallets__wallet_lorenz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925" y="1149475"/>
            <a:ext cx="6332152" cy="357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3125" y="1149475"/>
            <a:ext cx="6723125" cy="384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3125" y="1149475"/>
            <a:ext cx="6723125" cy="3874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47584" t="0"/>
          <a:stretch/>
        </p:blipFill>
        <p:spPr>
          <a:xfrm>
            <a:off x="0" y="1244100"/>
            <a:ext cx="6411049" cy="26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1520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Markets x Resolutions</a:t>
            </a:r>
            <a:endParaRPr/>
          </a:p>
        </p:txBody>
      </p:sp>
      <p:sp>
        <p:nvSpPr>
          <p:cNvPr id="138" name="Google Shape;138;p21"/>
          <p:cNvSpPr txBox="1"/>
          <p:nvPr>
            <p:ph idx="4294967295" type="body"/>
          </p:nvPr>
        </p:nvSpPr>
        <p:spPr>
          <a:xfrm>
            <a:off x="6082500" y="1278625"/>
            <a:ext cx="3061500" cy="26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Real Yes/No questions resolve YES only ~21% of the time.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Up/Down and Odd/Even markets are ~50/50,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Politics has the lowest YES rate (~21%); crypto the highest (~44%), driven by coin-flip markets.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Wallet Trade Data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 title="wallets__dow_hour_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925" y="1149475"/>
            <a:ext cx="6332149" cy="295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125" y="1086747"/>
            <a:ext cx="6565751" cy="308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1520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Wallet Trades, Oct 14 - 20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4" title="cross__calibration_boo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787" y="1149475"/>
            <a:ext cx="3578417" cy="36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4250" y="929425"/>
            <a:ext cx="6015473" cy="406244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1520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Wallet Trades, Oct 1-26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Joined Tables Data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6" title="wallets__dow_hour_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925" y="1149475"/>
            <a:ext cx="6332149" cy="295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 title="wallets__time_to_clo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4097" y="983050"/>
            <a:ext cx="6835816" cy="391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1520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Wallet Trades x Resolutions, Oct 14 - 20</a:t>
            </a:r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4088" y="968475"/>
            <a:ext cx="6835826" cy="393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15111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Wallet Trades x Resolutions, Oct 14 - 20</a:t>
            </a:r>
            <a:endParaRPr/>
          </a:p>
        </p:txBody>
      </p:sp>
      <p:pic>
        <p:nvPicPr>
          <p:cNvPr id="176" name="Google Shape;176;p27" title="catalog__volume_pare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925" y="1149475"/>
            <a:ext cx="6332152" cy="362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7" title="wallets__wallet_lorenz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925" y="1149475"/>
            <a:ext cx="6332152" cy="357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0574" y="1200975"/>
            <a:ext cx="6242150" cy="357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1837" y="1087072"/>
            <a:ext cx="6460325" cy="3695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8250" y="1007862"/>
            <a:ext cx="6687499" cy="3854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311700" y="15111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Order Books x Resolutions x Markets, Oct 14 - 20</a:t>
            </a:r>
            <a:endParaRPr/>
          </a:p>
        </p:txBody>
      </p:sp>
      <p:pic>
        <p:nvPicPr>
          <p:cNvPr id="186" name="Google Shape;186;p28" title="cross__calibration_boo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787" y="1203638"/>
            <a:ext cx="3578417" cy="36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9498" y="1017800"/>
            <a:ext cx="3605011" cy="399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9" title="catalog__volume_pare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925" y="1149475"/>
            <a:ext cx="6332152" cy="362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913" y="989412"/>
            <a:ext cx="6930175" cy="399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 txBox="1"/>
          <p:nvPr>
            <p:ph type="title"/>
          </p:nvPr>
        </p:nvSpPr>
        <p:spPr>
          <a:xfrm>
            <a:off x="311700" y="15111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Wallet Trades x Resolutions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0" title="catalog__volume_pare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925" y="1149475"/>
            <a:ext cx="6332152" cy="362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0" title="wallets__wallet_lorenz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925" y="1149475"/>
            <a:ext cx="6332152" cy="357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0574" y="1200975"/>
            <a:ext cx="6242150" cy="357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3125" y="1149475"/>
            <a:ext cx="6723125" cy="384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1837" y="1087072"/>
            <a:ext cx="6460325" cy="3695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3787" y="1017724"/>
            <a:ext cx="6981801" cy="399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13775" y="1002850"/>
            <a:ext cx="6981824" cy="402376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>
            <p:ph type="title"/>
          </p:nvPr>
        </p:nvSpPr>
        <p:spPr>
          <a:xfrm>
            <a:off x="311700" y="15111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Wallet Trades x Resolutions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1" title="cross__calibration_boo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787" y="1149475"/>
            <a:ext cx="3578417" cy="36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5075" y="758925"/>
            <a:ext cx="5293837" cy="412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1"/>
          <p:cNvSpPr txBox="1"/>
          <p:nvPr>
            <p:ph type="title"/>
          </p:nvPr>
        </p:nvSpPr>
        <p:spPr>
          <a:xfrm>
            <a:off x="311700" y="15111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Snapshot x Markets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311700" y="759850"/>
            <a:ext cx="8520600" cy="35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top ~1% of markets generate over 80–90% of all platform trading volume.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small fraction of traders making very large trades drive almost all the dollar volume.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Market creation surged dramatically in late 2026 (peaking over 700k new markets/month in Sept 2026), likely driven by short-duration sports/micro-events.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Dollar volume is heavily clustered around specific high-activity windows, peaking sharply on Sundays between 2 pm and 5 pm UTC while early morning UTC hours (03:00 am – 07:00 am UTC) show minimal trading volume. </a:t>
            </a:r>
            <a:endParaRPr/>
          </a:p>
        </p:txBody>
      </p:sp>
      <p:sp>
        <p:nvSpPr>
          <p:cNvPr id="219" name="Google Shape;219;p32"/>
          <p:cNvSpPr txBox="1"/>
          <p:nvPr>
            <p:ph type="title"/>
          </p:nvPr>
        </p:nvSpPr>
        <p:spPr>
          <a:xfrm>
            <a:off x="311700" y="1520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and Conclusion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idx="1" type="body"/>
          </p:nvPr>
        </p:nvSpPr>
        <p:spPr>
          <a:xfrm>
            <a:off x="311700" y="759850"/>
            <a:ext cx="8520600" cy="3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u="sng"/>
              <a:t>Trends</a:t>
            </a:r>
            <a:endParaRPr b="1" u="sng"/>
          </a:p>
          <a:p>
            <a:pPr indent="-3429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Last-minute BUY orders (&lt;6h before market close) yield statistically significant positive returns.   </a:t>
            </a:r>
            <a:endParaRPr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Trades over $10,000+ generate the highest profit per dollar traded (&gt;12%), while small trades (&lt;$10) suffer negative returns. </a:t>
            </a:r>
            <a:endParaRPr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Targeted wallets (trading 1 market or 6–20 markets) achieve higher profit margins than hyper-active wallets trading 21+ markets.  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Polymarket prices big markets to perfection, while niche markets are where specialists make their money. </a:t>
            </a:r>
            <a:endParaRPr/>
          </a:p>
        </p:txBody>
      </p:sp>
      <p:sp>
        <p:nvSpPr>
          <p:cNvPr id="225" name="Google Shape;225;p33"/>
          <p:cNvSpPr txBox="1"/>
          <p:nvPr>
            <p:ph type="title"/>
          </p:nvPr>
        </p:nvSpPr>
        <p:spPr>
          <a:xfrm>
            <a:off x="311700" y="1520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and Conclusion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311700" y="410000"/>
            <a:ext cx="8520600" cy="42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YOU!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